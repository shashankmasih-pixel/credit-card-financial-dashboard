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7"/>
  </p:notesMasterIdLst>
  <p:sldIdLst>
    <p:sldId id="256" r:id="rId2"/>
    <p:sldId id="262" r:id="rId3"/>
    <p:sldId id="264" r:id="rId4"/>
    <p:sldId id="265" r:id="rId5"/>
    <p:sldId id="266" r:id="rId6"/>
  </p:sldIdLst>
  <p:sldSz cx="9144000" cy="5143500" type="screen16x9"/>
  <p:notesSz cx="6858000" cy="9144000"/>
  <p:embeddedFontLst>
    <p:embeddedFont>
      <p:font typeface="Akatab" panose="020B0604020202020204" charset="0"/>
      <p:regular r:id="rId8"/>
      <p:bold r:id="rId9"/>
    </p:embeddedFont>
    <p:embeddedFont>
      <p:font typeface="Castoro" panose="020B0604020202020204" charset="0"/>
      <p:regular r:id="rId10"/>
      <p:italic r:id="rId11"/>
    </p:embeddedFont>
    <p:embeddedFont>
      <p:font typeface="Raleway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0930C8-1A00-4A48-AA1C-6AFD7D2F935D}">
  <a:tblStyle styleId="{2D0930C8-1A00-4A48-AA1C-6AFD7D2F93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772DAC0-1F12-4D2F-9777-3EB4FA77F5D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586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149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Castoro"/>
                <a:ea typeface="Castoro"/>
                <a:cs typeface="Castoro"/>
                <a:sym typeface="Casto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89050" y="182425"/>
            <a:ext cx="7989600" cy="3901800"/>
            <a:chOff x="189050" y="182425"/>
            <a:chExt cx="7989600" cy="39018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89050" y="321905"/>
              <a:ext cx="7989600" cy="81900"/>
              <a:chOff x="189050" y="284125"/>
              <a:chExt cx="7989600" cy="819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7884800" y="7217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5" name="Google Shape;15;p2"/>
              <p:cNvCxnSpPr>
                <a:stCxn id="14" idx="0"/>
              </p:cNvCxnSpPr>
              <p:nvPr/>
            </p:nvCxnSpPr>
            <p:spPr>
              <a:xfrm rot="10800000">
                <a:off x="189050" y="325075"/>
                <a:ext cx="7483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403625" y="182425"/>
              <a:ext cx="81900" cy="3901800"/>
              <a:chOff x="403625" y="182425"/>
              <a:chExt cx="81900" cy="39018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03625" y="357842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8" name="Google Shape;18;p2"/>
              <p:cNvCxnSpPr>
                <a:stCxn id="17" idx="0"/>
              </p:cNvCxnSpPr>
              <p:nvPr/>
            </p:nvCxnSpPr>
            <p:spPr>
              <a:xfrm rot="10800000">
                <a:off x="444575" y="182425"/>
                <a:ext cx="0" cy="3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384800" y="859801"/>
            <a:ext cx="8571101" cy="4095600"/>
            <a:chOff x="384800" y="859801"/>
            <a:chExt cx="8571101" cy="4095600"/>
          </a:xfrm>
        </p:grpSpPr>
        <p:sp>
          <p:nvSpPr>
            <p:cNvPr id="67" name="Google Shape;67;p8"/>
            <p:cNvSpPr/>
            <p:nvPr/>
          </p:nvSpPr>
          <p:spPr>
            <a:xfrm flipH="1">
              <a:off x="7855150" y="85980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8" name="Google Shape;68;p8"/>
            <p:cNvCxnSpPr/>
            <p:nvPr/>
          </p:nvCxnSpPr>
          <p:spPr>
            <a:xfrm rot="5400000">
              <a:off x="5939200" y="299850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Google Shape;69;p8"/>
            <p:cNvSpPr/>
            <p:nvPr/>
          </p:nvSpPr>
          <p:spPr>
            <a:xfrm rot="-5400000" flipH="1">
              <a:off x="596750" y="4501752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0" name="Google Shape;70;p8"/>
            <p:cNvCxnSpPr/>
            <p:nvPr/>
          </p:nvCxnSpPr>
          <p:spPr>
            <a:xfrm>
              <a:off x="898501" y="4754652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188100" y="338850"/>
            <a:ext cx="8771701" cy="4488651"/>
            <a:chOff x="188100" y="338850"/>
            <a:chExt cx="8771701" cy="4488651"/>
          </a:xfrm>
        </p:grpSpPr>
        <p:sp>
          <p:nvSpPr>
            <p:cNvPr id="76" name="Google Shape;76;p9"/>
            <p:cNvSpPr/>
            <p:nvPr/>
          </p:nvSpPr>
          <p:spPr>
            <a:xfrm rot="5400000">
              <a:off x="3980800" y="453365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7" name="Google Shape;77;p9"/>
            <p:cNvCxnSpPr/>
            <p:nvPr/>
          </p:nvCxnSpPr>
          <p:spPr>
            <a:xfrm rot="10800000">
              <a:off x="188100" y="478655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Google Shape;78;p9"/>
            <p:cNvSpPr/>
            <p:nvPr/>
          </p:nvSpPr>
          <p:spPr>
            <a:xfrm rot="-5400000">
              <a:off x="600650" y="12690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9" name="Google Shape;79;p9"/>
            <p:cNvCxnSpPr/>
            <p:nvPr/>
          </p:nvCxnSpPr>
          <p:spPr>
            <a:xfrm>
              <a:off x="902401" y="379800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ubTitle" idx="1"/>
          </p:nvPr>
        </p:nvSpPr>
        <p:spPr>
          <a:xfrm>
            <a:off x="837675" y="2921900"/>
            <a:ext cx="23751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2"/>
          </p:nvPr>
        </p:nvSpPr>
        <p:spPr>
          <a:xfrm>
            <a:off x="3384452" y="2921900"/>
            <a:ext cx="23751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subTitle" idx="3"/>
          </p:nvPr>
        </p:nvSpPr>
        <p:spPr>
          <a:xfrm>
            <a:off x="5931175" y="2921901"/>
            <a:ext cx="2375100" cy="13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4"/>
          </p:nvPr>
        </p:nvSpPr>
        <p:spPr>
          <a:xfrm>
            <a:off x="837675" y="2391925"/>
            <a:ext cx="2375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5"/>
          </p:nvPr>
        </p:nvSpPr>
        <p:spPr>
          <a:xfrm>
            <a:off x="3384452" y="2391925"/>
            <a:ext cx="2375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subTitle" idx="6"/>
          </p:nvPr>
        </p:nvSpPr>
        <p:spPr>
          <a:xfrm>
            <a:off x="5931175" y="2391925"/>
            <a:ext cx="2375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409729" y="191865"/>
            <a:ext cx="8544000" cy="4614700"/>
            <a:chOff x="409729" y="191865"/>
            <a:chExt cx="8544000" cy="4614700"/>
          </a:xfrm>
        </p:grpSpPr>
        <p:sp>
          <p:nvSpPr>
            <p:cNvPr id="131" name="Google Shape;131;p15"/>
            <p:cNvSpPr/>
            <p:nvPr/>
          </p:nvSpPr>
          <p:spPr>
            <a:xfrm>
              <a:off x="409729" y="175216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32" name="Google Shape;132;p15"/>
            <p:cNvCxnSpPr>
              <a:stCxn id="131" idx="0"/>
            </p:cNvCxnSpPr>
            <p:nvPr/>
          </p:nvCxnSpPr>
          <p:spPr>
            <a:xfrm rot="10800000">
              <a:off x="450679" y="191865"/>
              <a:ext cx="0" cy="1560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15"/>
            <p:cNvSpPr/>
            <p:nvPr/>
          </p:nvSpPr>
          <p:spPr>
            <a:xfrm rot="5400000">
              <a:off x="6179179" y="451271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134" name="Google Shape;134;p15"/>
            <p:cNvCxnSpPr>
              <a:stCxn id="133" idx="0"/>
            </p:cNvCxnSpPr>
            <p:nvPr/>
          </p:nvCxnSpPr>
          <p:spPr>
            <a:xfrm>
              <a:off x="6473029" y="4765615"/>
              <a:ext cx="248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6554694" y="808785"/>
            <a:ext cx="2401200" cy="4139700"/>
            <a:chOff x="6554694" y="808785"/>
            <a:chExt cx="2401200" cy="4139700"/>
          </a:xfrm>
        </p:grpSpPr>
        <p:sp>
          <p:nvSpPr>
            <p:cNvPr id="227" name="Google Shape;227;p25"/>
            <p:cNvSpPr/>
            <p:nvPr/>
          </p:nvSpPr>
          <p:spPr>
            <a:xfrm rot="-5400000">
              <a:off x="6766644" y="454927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8" name="Google Shape;228;p25"/>
            <p:cNvCxnSpPr>
              <a:stCxn id="227" idx="2"/>
            </p:cNvCxnSpPr>
            <p:nvPr/>
          </p:nvCxnSpPr>
          <p:spPr>
            <a:xfrm>
              <a:off x="7060494" y="480217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229" name="Google Shape;229;p25"/>
            <p:cNvSpPr/>
            <p:nvPr/>
          </p:nvSpPr>
          <p:spPr>
            <a:xfrm>
              <a:off x="8665694" y="8087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0" name="Google Shape;230;p25"/>
            <p:cNvCxnSpPr>
              <a:stCxn id="229" idx="2"/>
            </p:cNvCxnSpPr>
            <p:nvPr/>
          </p:nvCxnSpPr>
          <p:spPr>
            <a:xfrm>
              <a:off x="8706644" y="1314585"/>
              <a:ext cx="0" cy="363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33" name="Google Shape;233;p26"/>
          <p:cNvGrpSpPr/>
          <p:nvPr/>
        </p:nvGrpSpPr>
        <p:grpSpPr>
          <a:xfrm>
            <a:off x="188094" y="315075"/>
            <a:ext cx="4139700" cy="4513360"/>
            <a:chOff x="188094" y="329775"/>
            <a:chExt cx="4139700" cy="4513360"/>
          </a:xfrm>
        </p:grpSpPr>
        <p:sp>
          <p:nvSpPr>
            <p:cNvPr id="234" name="Google Shape;234;p26"/>
            <p:cNvSpPr/>
            <p:nvPr/>
          </p:nvSpPr>
          <p:spPr>
            <a:xfrm rot="5400000">
              <a:off x="4033944" y="45492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5" name="Google Shape;235;p26"/>
            <p:cNvCxnSpPr>
              <a:stCxn id="234" idx="2"/>
            </p:cNvCxnSpPr>
            <p:nvPr/>
          </p:nvCxnSpPr>
          <p:spPr>
            <a:xfrm rot="10800000">
              <a:off x="188094" y="4802185"/>
              <a:ext cx="363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6" name="Google Shape;236;p26"/>
            <p:cNvSpPr/>
            <p:nvPr/>
          </p:nvSpPr>
          <p:spPr>
            <a:xfrm rot="5400000">
              <a:off x="2295444" y="11782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7" name="Google Shape;237;p26"/>
            <p:cNvCxnSpPr>
              <a:stCxn id="236" idx="2"/>
            </p:cNvCxnSpPr>
            <p:nvPr/>
          </p:nvCxnSpPr>
          <p:spPr>
            <a:xfrm rot="10800000">
              <a:off x="188094" y="37072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61" r:id="rId5"/>
    <p:sldLayoutId id="2147483671" r:id="rId6"/>
    <p:sldLayoutId id="214748367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/>
              <a:t>CREDIT CARD</a:t>
            </a:r>
            <a:br>
              <a:rPr lang="en-US" sz="6000" dirty="0"/>
            </a:br>
            <a:r>
              <a:rPr lang="en-US" sz="4000" dirty="0"/>
              <a:t>Weekly Status Report</a:t>
            </a:r>
            <a:endParaRPr sz="4000" i="1" dirty="0"/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Prepare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By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Shashank Masih Toppo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Objective</a:t>
            </a:r>
            <a:endParaRPr dirty="0"/>
          </a:p>
        </p:txBody>
      </p:sp>
      <p:sp>
        <p:nvSpPr>
          <p:cNvPr id="16" name="Subtitle 3">
            <a:extLst>
              <a:ext uri="{FF2B5EF4-FFF2-40B4-BE49-F238E27FC236}">
                <a16:creationId xmlns:a16="http://schemas.microsoft.com/office/drawing/2014/main" id="{57B99D8C-30BC-5D6B-B21D-51A8B763B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99" y="1778470"/>
            <a:ext cx="6855395" cy="679500"/>
          </a:xfrm>
        </p:spPr>
        <p:txBody>
          <a:bodyPr/>
          <a:lstStyle/>
          <a:p>
            <a:pPr algn="l"/>
            <a:r>
              <a:rPr lang="en-US" sz="2400" dirty="0"/>
              <a:t>To develop a comprehensive credit card weekly dashboard that provides real-time insights into key performance metrics and trends, enabling stakeholders to monitor and analyze credit card operations effectively.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Insights- Week 53 (31st Dec)</a:t>
            </a:r>
            <a:endParaRPr lang="en-IN" dirty="0"/>
          </a:p>
        </p:txBody>
      </p:sp>
      <p:sp>
        <p:nvSpPr>
          <p:cNvPr id="16" name="Subtitle 3">
            <a:extLst>
              <a:ext uri="{FF2B5EF4-FFF2-40B4-BE49-F238E27FC236}">
                <a16:creationId xmlns:a16="http://schemas.microsoft.com/office/drawing/2014/main" id="{57B99D8C-30BC-5D6B-B21D-51A8B763B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08" y="1020188"/>
            <a:ext cx="8275313" cy="679500"/>
          </a:xfrm>
        </p:spPr>
        <p:txBody>
          <a:bodyPr/>
          <a:lstStyle/>
          <a:p>
            <a:pPr marL="152400" indent="0" algn="l"/>
            <a:r>
              <a:rPr lang="en-US" sz="2000" b="1" u="sng" dirty="0"/>
              <a:t>Week-over-Week (WoW) Performance Highlights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dirty="0"/>
              <a:t>Revenue increased by </a:t>
            </a:r>
            <a:r>
              <a:rPr lang="en-US" sz="1400" b="1" dirty="0"/>
              <a:t>28.8%</a:t>
            </a:r>
            <a:r>
              <a:rPr lang="en-US" sz="1400" dirty="0"/>
              <a:t>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dirty="0"/>
              <a:t>Total Transaction Amount increased by </a:t>
            </a:r>
            <a:r>
              <a:rPr lang="en-US" sz="1400" b="1" dirty="0"/>
              <a:t>33.5%</a:t>
            </a:r>
            <a:r>
              <a:rPr lang="en-US" sz="1400" dirty="0"/>
              <a:t>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dirty="0"/>
              <a:t>Total Transaction Count increased by </a:t>
            </a:r>
            <a:r>
              <a:rPr lang="en-US" sz="1400" b="1" dirty="0"/>
              <a:t>9.1%</a:t>
            </a:r>
            <a:r>
              <a:rPr lang="en-US" sz="1400" dirty="0"/>
              <a:t> </a:t>
            </a:r>
          </a:p>
          <a:p>
            <a:pPr marL="152400" indent="0" algn="l"/>
            <a:endParaRPr lang="en-US" sz="2000" b="1" u="sng" dirty="0"/>
          </a:p>
          <a:p>
            <a:pPr marL="152400" indent="0" algn="l"/>
            <a:r>
              <a:rPr lang="en-US" sz="2000" b="1" u="sng" dirty="0"/>
              <a:t>Year-to-Date (YTD) Performance Overview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Total Revenue:</a:t>
            </a:r>
            <a:r>
              <a:rPr lang="en-US" sz="1400" dirty="0"/>
              <a:t> 57M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Total Interest Earned:</a:t>
            </a:r>
            <a:r>
              <a:rPr lang="en-US" sz="1400" dirty="0"/>
              <a:t> 7.98M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Total Transaction Amount:</a:t>
            </a:r>
            <a:r>
              <a:rPr lang="en-US" sz="1400" dirty="0"/>
              <a:t> 46M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Revenue by Gender:</a:t>
            </a:r>
            <a:r>
              <a:rPr lang="en-US" sz="1400" dirty="0"/>
              <a:t> Male customers contributed </a:t>
            </a:r>
            <a:r>
              <a:rPr lang="en-US" sz="1400" b="1" dirty="0"/>
              <a:t>31M</a:t>
            </a:r>
            <a:r>
              <a:rPr lang="en-US" sz="1400" dirty="0"/>
              <a:t>, while female customers contributed </a:t>
            </a:r>
            <a:r>
              <a:rPr lang="en-US" sz="1400" b="1" dirty="0"/>
              <a:t>26M</a:t>
            </a:r>
            <a:r>
              <a:rPr lang="en-US" sz="1400" dirty="0"/>
              <a:t>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Card Category Performance:</a:t>
            </a:r>
            <a:r>
              <a:rPr lang="en-US" sz="1400" dirty="0"/>
              <a:t> Blue and Silver credit cards accounted for </a:t>
            </a:r>
            <a:r>
              <a:rPr lang="en-US" sz="1400" b="1" dirty="0"/>
              <a:t>93%</a:t>
            </a:r>
            <a:r>
              <a:rPr lang="en-US" sz="1400" dirty="0"/>
              <a:t> of total transactions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Top Contributing States:</a:t>
            </a:r>
            <a:r>
              <a:rPr lang="en-US" sz="1400" dirty="0"/>
              <a:t> Texas (TX), New York (NY), and California (CA) generated </a:t>
            </a:r>
            <a:r>
              <a:rPr lang="en-US" sz="1400" b="1" dirty="0"/>
              <a:t>68%</a:t>
            </a:r>
            <a:r>
              <a:rPr lang="en-US" sz="1400" dirty="0"/>
              <a:t> of total revenue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Overall Activation Rate:</a:t>
            </a:r>
            <a:r>
              <a:rPr lang="en-US" sz="1400" dirty="0"/>
              <a:t> 57.5% 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1400" b="1" dirty="0"/>
              <a:t>Overall Delinquency Rate:</a:t>
            </a:r>
            <a:r>
              <a:rPr lang="en-US" sz="1400" dirty="0"/>
              <a:t> 6.06%</a:t>
            </a:r>
          </a:p>
        </p:txBody>
      </p:sp>
    </p:spTree>
    <p:extLst>
      <p:ext uri="{BB962C8B-B14F-4D97-AF65-F5344CB8AC3E}">
        <p14:creationId xmlns:p14="http://schemas.microsoft.com/office/powerpoint/2010/main" val="307112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Project Link</a:t>
            </a:r>
            <a:endParaRPr dirty="0"/>
          </a:p>
        </p:txBody>
      </p:sp>
      <p:sp>
        <p:nvSpPr>
          <p:cNvPr id="16" name="Subtitle 3">
            <a:extLst>
              <a:ext uri="{FF2B5EF4-FFF2-40B4-BE49-F238E27FC236}">
                <a16:creationId xmlns:a16="http://schemas.microsoft.com/office/drawing/2014/main" id="{57B99D8C-30BC-5D6B-B21D-51A8B763B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492148"/>
            <a:ext cx="6855395" cy="679500"/>
          </a:xfrm>
        </p:spPr>
        <p:txBody>
          <a:bodyPr/>
          <a:lstStyle/>
          <a:p>
            <a:pPr algn="l"/>
            <a:r>
              <a:rPr lang="en-US" sz="2400"/>
              <a:t>https://github.com/shashankmasih-pixel/Credit-Card-Financial-Dashboard</a:t>
            </a:r>
            <a:endParaRPr lang="en-IN" sz="2400" dirty="0"/>
          </a:p>
        </p:txBody>
      </p:sp>
      <p:sp>
        <p:nvSpPr>
          <p:cNvPr id="2" name="Google Shape;325;p36">
            <a:extLst>
              <a:ext uri="{FF2B5EF4-FFF2-40B4-BE49-F238E27FC236}">
                <a16:creationId xmlns:a16="http://schemas.microsoft.com/office/drawing/2014/main" id="{62D96791-FB3D-C3E3-EFA3-2B4C9C989835}"/>
              </a:ext>
            </a:extLst>
          </p:cNvPr>
          <p:cNvSpPr txBox="1">
            <a:spLocks/>
          </p:cNvSpPr>
          <p:nvPr/>
        </p:nvSpPr>
        <p:spPr>
          <a:xfrm>
            <a:off x="805493" y="1919448"/>
            <a:ext cx="30156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pPr algn="l"/>
            <a:r>
              <a:rPr lang="en-IN" sz="2400" dirty="0"/>
              <a:t>GitHub:</a:t>
            </a:r>
          </a:p>
        </p:txBody>
      </p:sp>
    </p:spTree>
    <p:extLst>
      <p:ext uri="{BB962C8B-B14F-4D97-AF65-F5344CB8AC3E}">
        <p14:creationId xmlns:p14="http://schemas.microsoft.com/office/powerpoint/2010/main" val="199454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6487531-6FAA-0C75-2904-A0C29C658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850" y="1329489"/>
            <a:ext cx="6396300" cy="2296500"/>
          </a:xfrm>
        </p:spPr>
        <p:txBody>
          <a:bodyPr/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574069965"/>
      </p:ext>
    </p:extLst>
  </p:cSld>
  <p:clrMapOvr>
    <a:masterClrMapping/>
  </p:clrMapOvr>
</p:sld>
</file>

<file path=ppt/theme/theme1.xml><?xml version="1.0" encoding="utf-8"?>
<a:theme xmlns:a="http://schemas.openxmlformats.org/drawingml/2006/main" name="Executive Design Company Profile by Slidesgo">
  <a:themeElements>
    <a:clrScheme name="Simple Light">
      <a:dk1>
        <a:srgbClr val="030920"/>
      </a:dk1>
      <a:lt1>
        <a:srgbClr val="EEEEEE"/>
      </a:lt1>
      <a:dk2>
        <a:srgbClr val="2A3250"/>
      </a:dk2>
      <a:lt2>
        <a:srgbClr val="526D82"/>
      </a:lt2>
      <a:accent1>
        <a:srgbClr val="9DB2BF"/>
      </a:accent1>
      <a:accent2>
        <a:srgbClr val="DDE6E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309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177</Words>
  <Application>Microsoft Office PowerPoint</Application>
  <PresentationFormat>On-screen Show (16:9)</PresentationFormat>
  <Paragraphs>25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Wingdings</vt:lpstr>
      <vt:lpstr>Raleway</vt:lpstr>
      <vt:lpstr>Arial</vt:lpstr>
      <vt:lpstr>Castoro</vt:lpstr>
      <vt:lpstr>Akatab</vt:lpstr>
      <vt:lpstr>Executive Design Company Profile by Slidesgo</vt:lpstr>
      <vt:lpstr>CREDIT CARD Weekly Status Report</vt:lpstr>
      <vt:lpstr>Project Objective</vt:lpstr>
      <vt:lpstr>Project Insights- Week 53 (31st Dec)</vt:lpstr>
      <vt:lpstr>Project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Shashank Masih</cp:lastModifiedBy>
  <cp:revision>3</cp:revision>
  <dcterms:modified xsi:type="dcterms:W3CDTF">2026-06-12T06:00:06Z</dcterms:modified>
</cp:coreProperties>
</file>